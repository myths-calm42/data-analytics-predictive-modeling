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2D67BE"/>
                </a:solidFill>
                <a:latin typeface="Aptos"/>
              </a:defRPr>
            </a:pPr>
            <a:r>
              <a:t>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141D2B"/>
                </a:solidFill>
                <a:latin typeface="Aptos"/>
              </a:defRPr>
            </a:pPr>
            <a:r>
              <a:t>Data Analytics — Executive Readout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69717D"/>
                </a:solidFill>
                <a:latin typeface="Aptos"/>
              </a:defRPr>
            </a:pPr>
            <a:r>
              <a:t>Player Health, Monetization, Acquisition &amp; Churn | Jan 1 – Apr 30,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64008" cy="1325880"/>
          </a:xfrm>
          <a:prstGeom prst="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1"/>
            <a:ext cx="2286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ARPDAU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13432"/>
            <a:ext cx="2286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$0.351 → $0.293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16352"/>
            <a:ext cx="2286000" cy="3383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−16.5% overall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874519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1874519"/>
            <a:ext cx="64008" cy="132588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993391"/>
            <a:ext cx="2286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D30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13432"/>
            <a:ext cx="2286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~13–15%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16352"/>
            <a:ext cx="2286000" cy="3383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Mature weekly cohorts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874519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8776" y="1874519"/>
            <a:ext cx="64008" cy="1325880"/>
          </a:xfrm>
          <a:prstGeom prst="rect">
            <a:avLst/>
          </a:prstGeom>
          <a:solidFill>
            <a:srgbClr val="DD8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1"/>
            <a:ext cx="2286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OBSERVED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313432"/>
            <a:ext cx="1149674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rPr lang="en-IN" dirty="0"/>
              <a:t>18.91</a:t>
            </a:r>
            <a:r>
              <a:rPr dirty="0"/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816352"/>
            <a:ext cx="2286000" cy="3383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Test-period base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1874519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15984" y="1874519"/>
            <a:ext cx="64008" cy="1325880"/>
          </a:xfrm>
          <a:prstGeom prst="rect">
            <a:avLst/>
          </a:prstGeom>
          <a:solidFill>
            <a:srgbClr val="35A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1993391"/>
            <a:ext cx="2286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CHURN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13432"/>
            <a:ext cx="2286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0.744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816352"/>
            <a:ext cx="2286000" cy="3383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Test ROC-AUC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56432"/>
            <a:ext cx="192024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3474720"/>
            <a:ext cx="1773936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858768"/>
            <a:ext cx="34290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t>01 — ARPDAU decline is primarily a mix 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233672"/>
            <a:ext cx="351089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All country tiers were stable or improving, </a:t>
            </a:r>
            <a:endParaRPr lang="en-IN" dirty="0"/>
          </a:p>
          <a:p>
            <a:pPr algn="ctr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while Tier 4's active-player mix increased substantially.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0518" y="3858768"/>
            <a:ext cx="34290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02 — Channel quality needs adjustment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8190" y="4247767"/>
            <a:ext cx="365035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Paid Video shows stronger engagement,</a:t>
            </a:r>
            <a:r>
              <a:rPr lang="en-IN" dirty="0"/>
              <a:t> </a:t>
            </a:r>
            <a:r>
              <a:rPr dirty="0"/>
              <a:t>while the raw </a:t>
            </a:r>
            <a:endParaRPr lang="en-IN" dirty="0"/>
          </a:p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Organic revenue gap </a:t>
            </a:r>
            <a:r>
              <a:rPr lang="en-IN" dirty="0"/>
              <a:t> </a:t>
            </a:r>
            <a:r>
              <a:rPr dirty="0"/>
              <a:t>largely disappears after adjustment.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9558" y="3858768"/>
            <a:ext cx="34290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03 — Churn can support targeting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5301" y="4213705"/>
            <a:ext cx="330571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The model identifies higher-risk player-date </a:t>
            </a:r>
            <a:endParaRPr lang="en-IN" dirty="0"/>
          </a:p>
          <a:p>
            <a:pPr algn="ctr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observations,</a:t>
            </a:r>
            <a:r>
              <a:rPr lang="en-IN" dirty="0"/>
              <a:t> </a:t>
            </a:r>
            <a:r>
              <a:rPr dirty="0"/>
              <a:t>but offer economics still need testing.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230368"/>
            <a:ext cx="109728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376672"/>
            <a:ext cx="10515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141D2B"/>
                </a:solidFill>
                <a:latin typeface="Aptos"/>
              </a:defRPr>
            </a:pPr>
            <a:r>
              <a:t>Bottom line: focus on acquisition mix, measure channel economics correctly, and use churn prediction as a targeting layer.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1689" y="6519672"/>
            <a:ext cx="159691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828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1. Game Health — Activity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rPr dirty="0"/>
              <a:t>Use this slide to show the product baseline before moving into monetization.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212080" cy="2468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303741"/>
                </a:solidFill>
                <a:latin typeface="Aptos"/>
              </a:defRPr>
            </a:pPr>
            <a:r>
              <a:rPr dirty="0"/>
              <a:t>ACTUAL GRAPH: Daily Active Players by Platform</a:t>
            </a:r>
            <a:br>
              <a:rPr dirty="0"/>
            </a:br>
            <a:r>
              <a:rPr dirty="0"/>
              <a:t>Android vs iOS, Jan–Apr 2026</a:t>
            </a:r>
            <a:br>
              <a:rPr dirty="0"/>
            </a:br>
            <a:br>
              <a:rPr dirty="0"/>
            </a:br>
            <a:r>
              <a:rPr dirty="0"/>
              <a:t>Insert the actual daily DAU chart from Task 1. Do not use a fabricated time series.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7646" y="1268282"/>
            <a:ext cx="201168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0798" y="1318715"/>
            <a:ext cx="926857" cy="2616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1100" dirty="0"/>
              <a:t>RETENTION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856246"/>
              </p:ext>
            </p:extLst>
          </p:nvPr>
        </p:nvGraphicFramePr>
        <p:xfrm>
          <a:off x="6707646" y="1664208"/>
          <a:ext cx="4983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Milestone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Mature cohort range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~46–50%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D7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~24–27%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D14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~19–21%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D30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~12.7–15.0%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65392" y="3822191"/>
            <a:ext cx="48463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187952"/>
            <a:ext cx="4848635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41D2B"/>
                </a:solidFill>
                <a:latin typeface="Aptos"/>
              </a:defRPr>
            </a:pPr>
            <a:r>
              <a:rPr dirty="0"/>
              <a:t>D1 retention is consistently around 46–50%, while mature</a:t>
            </a:r>
            <a:endParaRPr lang="en-IN" dirty="0"/>
          </a:p>
          <a:p>
            <a:pPr algn="l">
              <a:defRPr sz="1400" b="1">
                <a:solidFill>
                  <a:srgbClr val="141D2B"/>
                </a:solidFill>
                <a:latin typeface="Aptos"/>
              </a:defRPr>
            </a:pPr>
            <a:r>
              <a:rPr dirty="0"/>
              <a:t>D30 cohorts remain around 13–15%.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170932"/>
            <a:ext cx="48463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69717D"/>
                </a:solidFill>
                <a:latin typeface="Aptos"/>
              </a:defRPr>
            </a:pPr>
            <a:r>
              <a:rPr dirty="0"/>
              <a:t>Recent cohorts are not eligible for later milestones because the observation window ends on Apr 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1689" y="6519672"/>
            <a:ext cx="159691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779DC3-6AE5-469E-15A2-1E568370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47" y="1579178"/>
            <a:ext cx="6261059" cy="260877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6A56CA-1225-44F3-66A5-B66542B3FADF}"/>
              </a:ext>
            </a:extLst>
          </p:cNvPr>
          <p:cNvSpPr/>
          <p:nvPr/>
        </p:nvSpPr>
        <p:spPr>
          <a:xfrm>
            <a:off x="616984" y="1307592"/>
            <a:ext cx="2011680" cy="310896"/>
          </a:xfrm>
          <a:prstGeom prst="roundRect">
            <a:avLst/>
          </a:prstGeom>
          <a:solidFill>
            <a:srgbClr val="0070C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b="1" dirty="0"/>
              <a:t>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2. Monetization — Concentration &amp; Rewarded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Revenue means real-money in-app purchases; rewarded-ad activity is engagement, not ad revenue.</a:t>
            </a:r>
          </a:p>
        </p:txBody>
      </p:sp>
      <p:pic>
        <p:nvPicPr>
          <p:cNvPr id="5" name="Picture 4" descr="revenu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234440"/>
            <a:ext cx="256032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9672" y="1252728"/>
            <a:ext cx="2414015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REWARDED-AD ENGAGEMENT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664208"/>
          <a:ext cx="51663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 cap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Ad-watching player-days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Cap-hit rate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>
                        <a:defRPr sz="96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294,776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1.0265%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>
                        <a:defRPr sz="96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102,049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0.0127%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3858768"/>
            <a:ext cx="5029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DD8935"/>
                </a:solidFill>
                <a:latin typeface="Aptos"/>
              </a:defRPr>
            </a:pPr>
            <a:r>
              <a:t>Anomaly to 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79392"/>
            <a:ext cx="50292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t>Mar 6, 2026 recorded zero ad events. Validate telemetry before treating this as player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5257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141D2B"/>
                </a:solidFill>
                <a:latin typeface="Aptos"/>
              </a:defRPr>
            </a:pPr>
            <a:r>
              <a:t>Key message: 48.08% of revenue comes from the top 10% of paying players; cap hits are rare.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2221" y="6519672"/>
            <a:ext cx="15263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3. ARPDAU Is Falling — But the Decline Is Mostly Mix-Driven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First 30 days vs last 30 days of the analysis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33172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64008" cy="1188720"/>
          </a:xfrm>
          <a:prstGeom prst="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201167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FIRST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73352"/>
            <a:ext cx="201167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$0.3511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2011679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ARPDAU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234440"/>
            <a:ext cx="233172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1234440"/>
            <a:ext cx="64008" cy="1188720"/>
          </a:xfrm>
          <a:prstGeom prst="rect">
            <a:avLst/>
          </a:prstGeom>
          <a:solidFill>
            <a:srgbClr val="DD8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1353312"/>
            <a:ext cx="201167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LAST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673352"/>
            <a:ext cx="201167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$0.2933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176272"/>
            <a:ext cx="2011679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ARPDAU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234440"/>
            <a:ext cx="233172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1234440"/>
            <a:ext cx="64008" cy="1188720"/>
          </a:xfrm>
          <a:prstGeom prst="rect">
            <a:avLst/>
          </a:prstGeom>
          <a:solidFill>
            <a:srgbClr val="BF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1" y="1353312"/>
            <a:ext cx="201167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1" y="1673352"/>
            <a:ext cx="201167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−16.49%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1" y="2176272"/>
            <a:ext cx="2011679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Overall ARPDAU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34440"/>
            <a:ext cx="347472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234440"/>
            <a:ext cx="64008" cy="1188720"/>
          </a:xfrm>
          <a:prstGeom prst="rect">
            <a:avLst/>
          </a:prstGeom>
          <a:solidFill>
            <a:srgbClr val="35A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353312"/>
            <a:ext cx="315467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TIER 4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1673352"/>
            <a:ext cx="315467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17.65% → 45.99%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176272"/>
            <a:ext cx="3154679" cy="20116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+28.33 percentage points</a:t>
            </a:r>
          </a:p>
        </p:txBody>
      </p:sp>
      <p:pic>
        <p:nvPicPr>
          <p:cNvPr id="25" name="Picture 24" descr="tier_arpd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6537960" cy="33375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360920" y="2606040"/>
            <a:ext cx="219456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2624328"/>
            <a:ext cx="2048255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DECOMPOSITION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3035808"/>
            <a:ext cx="41605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60920" y="3035808"/>
            <a:ext cx="64008" cy="868680"/>
          </a:xfrm>
          <a:prstGeom prst="rect">
            <a:avLst/>
          </a:prstGeom>
          <a:solidFill>
            <a:srgbClr val="BF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25512" y="3154679"/>
            <a:ext cx="38404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MIX EFFECT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474720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−$0.0758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4023360"/>
            <a:ext cx="41605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60920" y="4023360"/>
            <a:ext cx="64008" cy="86868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25512" y="4142232"/>
            <a:ext cx="38404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WITHIN-TIER EFFECT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2" y="4462272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+$0.0179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5010912"/>
            <a:ext cx="41605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5010912"/>
            <a:ext cx="64008" cy="868680"/>
          </a:xfrm>
          <a:prstGeom prst="rect">
            <a:avLst/>
          </a:prstGeom>
          <a:solidFill>
            <a:srgbClr val="DD8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25512" y="5129784"/>
            <a:ext cx="38404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TOTAL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5512" y="5449824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−$0.0579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05332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141D2B"/>
                </a:solidFill>
                <a:latin typeface="Aptos"/>
              </a:defRPr>
            </a:pPr>
            <a:r>
              <a:t>Recommendation: investigate the acquisition/mix shift toward Tier 4; do not apply a blanket monetization fix.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2221" y="6519672"/>
            <a:ext cx="15263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4. Acquisition Quality — Engagement Differs, Revenue Needs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Channels: Organic, Paid Social, Paid Video.</a:t>
            </a:r>
          </a:p>
        </p:txBody>
      </p:sp>
      <p:pic>
        <p:nvPicPr>
          <p:cNvPr id="5" name="Picture 4" descr="channel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303520" cy="2514600"/>
          </a:xfrm>
          <a:prstGeom prst="rect">
            <a:avLst/>
          </a:prstGeom>
        </p:spPr>
      </p:pic>
      <p:pic>
        <p:nvPicPr>
          <p:cNvPr id="6" name="Picture 5" descr="channel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34440"/>
            <a:ext cx="5303520" cy="2514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3886200"/>
            <a:ext cx="201168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3904487"/>
            <a:ext cx="1865376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KEY NUMBERS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315968"/>
          <a:ext cx="52578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Paid Social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Paid Video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Avg 7d playtime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37.29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34.95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44.75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Avg 30d revenue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$1.6185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$1.4793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$1.2995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Payer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7.49%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80760" y="3886200"/>
            <a:ext cx="256032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3912" y="3904487"/>
            <a:ext cx="2414015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STATISTICAL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315968"/>
            <a:ext cx="5212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141D2B"/>
                </a:solidFill>
                <a:latin typeface="Aptos"/>
              </a:defRPr>
            </a:pPr>
            <a:r>
              <a:t>Raw Organic − Paid Video revenue: +$0.9125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81728"/>
            <a:ext cx="5212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303741"/>
                </a:solidFill>
                <a:latin typeface="Aptos"/>
              </a:defRPr>
            </a:pPr>
            <a:r>
              <a:t>95% CI: +$0.6643 to +$1.1795 | p = 0.0003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138928"/>
            <a:ext cx="5212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141D2B"/>
                </a:solidFill>
                <a:latin typeface="Aptos"/>
              </a:defRPr>
            </a:pPr>
            <a:r>
              <a:t>Adjusted difference: +$0.0917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04688"/>
            <a:ext cx="5212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303741"/>
                </a:solidFill>
                <a:latin typeface="Aptos"/>
              </a:defRPr>
            </a:pPr>
            <a:r>
              <a:t>95% CI: −$0.2337 to +$0.4098 | p = 0.5751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2221" y="6519672"/>
            <a:ext cx="15263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07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5. Churn Prediction — Identify Players at Risk Before They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Target: currently active players who stop playing in the next 14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82880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682496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CHURN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4800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41D2B"/>
                </a:solidFill>
                <a:latin typeface="Aptos"/>
              </a:defRPr>
            </a:pPr>
            <a:r>
              <a:t>Active at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4800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303741"/>
                </a:solidFill>
                <a:latin typeface="Aptos"/>
              </a:defRPr>
            </a:pPr>
            <a:r>
              <a:t>≥1 activity record during T−6 to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4800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41D2B"/>
                </a:solidFill>
                <a:latin typeface="Aptos"/>
              </a:defRPr>
            </a:pPr>
            <a:r>
              <a:t>Churn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48006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303741"/>
                </a:solidFill>
                <a:latin typeface="Aptos"/>
              </a:defRPr>
            </a:pPr>
            <a:r>
              <a:t>No activity during T+1 to T+14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93008"/>
            <a:ext cx="4800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9717D"/>
                </a:solidFill>
                <a:latin typeface="Aptos"/>
              </a:defRPr>
            </a:pPr>
            <a:r>
              <a:t>Prediction period: Feb 1 – Apr 16,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60401" y="1188720"/>
            <a:ext cx="1920240" cy="310896"/>
          </a:xfrm>
          <a:prstGeom prst="round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33553" y="1207008"/>
            <a:ext cx="1773936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MODEL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600200"/>
            <a:ext cx="278892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2D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0" y="1700784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141D2B"/>
                </a:solidFill>
                <a:latin typeface="Aptos"/>
              </a:defRPr>
            </a:pPr>
            <a:r>
              <a:t>Player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258568"/>
            <a:ext cx="278892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35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2359151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141D2B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2916935"/>
            <a:ext cx="278892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36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3017519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141D2B"/>
                </a:solidFill>
                <a:latin typeface="Aptos"/>
              </a:defRPr>
            </a:pPr>
            <a:r>
              <a:t>Time split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575303"/>
            <a:ext cx="278892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D8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3675887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141D2B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4233671"/>
            <a:ext cx="278892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0" y="4334255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141D2B"/>
                </a:solidFill>
                <a:latin typeface="Aptos"/>
              </a:defRPr>
            </a:pPr>
            <a:r>
              <a:t>14-day churn probability</a:t>
            </a:r>
          </a:p>
        </p:txBody>
      </p:sp>
      <p:pic>
        <p:nvPicPr>
          <p:cNvPr id="24" name="Picture 23" descr="model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36174"/>
            <a:ext cx="2926080" cy="246888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82434"/>
              </p:ext>
            </p:extLst>
          </p:nvPr>
        </p:nvGraphicFramePr>
        <p:xfrm>
          <a:off x="8595360" y="4287315"/>
          <a:ext cx="3063240" cy="178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59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59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ROC-AUC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0.7439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59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PR-AUC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0.3925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59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lang="en-IN" sz="950" kern="1200" dirty="0">
                          <a:solidFill>
                            <a:srgbClr val="303741"/>
                          </a:solidFill>
                          <a:latin typeface="Aptos"/>
                          <a:ea typeface="+mn-ea"/>
                          <a:cs typeface="+mn-cs"/>
                        </a:rPr>
                        <a:t>Accuracy</a:t>
                      </a:r>
                      <a:endParaRPr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lang="en-IN" dirty="0"/>
                        <a:t>0.7713</a:t>
                      </a:r>
                      <a:endParaRPr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1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lang="en-IN" dirty="0"/>
                        <a:t>F1-Score</a:t>
                      </a:r>
                    </a:p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endParaRPr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lang="en-IN" dirty="0"/>
                        <a:t>0.4309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071322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16513" y="4928616"/>
            <a:ext cx="2430337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4698" y="4939550"/>
            <a:ext cx="64008" cy="1097280"/>
          </a:xfrm>
          <a:prstGeom prst="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6533" y="5232158"/>
            <a:ext cx="21945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rPr dirty="0"/>
              <a:t>TEST OBSERVATIONS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5449824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t>553,691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9272" y="4959487"/>
            <a:ext cx="2395728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75709" y="4997195"/>
            <a:ext cx="64008" cy="1097280"/>
          </a:xfrm>
          <a:prstGeom prst="rect">
            <a:avLst/>
          </a:prstGeom>
          <a:solidFill>
            <a:srgbClr val="DD8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10453" y="5228717"/>
            <a:ext cx="21945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rPr dirty="0"/>
              <a:t>PREDICTED CHURN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7626" y="5436437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rPr dirty="0"/>
              <a:t>117,730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4169" y="5837359"/>
            <a:ext cx="2194560" cy="1097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rPr dirty="0"/>
              <a:t>21.26% of test observations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962270"/>
            <a:ext cx="2404872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89320" y="4950674"/>
            <a:ext cx="64008" cy="109728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46121" y="5236589"/>
            <a:ext cx="21945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ACTUAL CHURN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6121" y="5455951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r>
              <a:rPr dirty="0"/>
              <a:t>18.91%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5806911"/>
            <a:ext cx="2194560" cy="1097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rPr dirty="0"/>
              <a:t>Test base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143731"/>
            <a:ext cx="77724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141D2B"/>
                </a:solidFill>
                <a:latin typeface="Aptos"/>
              </a:defRPr>
            </a:pPr>
            <a:r>
              <a:rPr dirty="0"/>
              <a:t>Threshold = 0.30: use only if offer cost and incremental retained-player value justify the targeting volume.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2221" y="6519672"/>
            <a:ext cx="15263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6. What Should the Business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Recommendations are deliberately tied to evidence and known data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965960"/>
          </a:xfrm>
          <a:prstGeom prst="rect">
            <a:avLst/>
          </a:prstGeom>
          <a:solidFill>
            <a:srgbClr val="2D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36192"/>
            <a:ext cx="5029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1 — Monitor acquisition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56232"/>
            <a:ext cx="5029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359152"/>
            <a:ext cx="5029200" cy="9784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Tier 4 active-player mix rose 17.65% → 45.99%.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63240"/>
            <a:ext cx="4892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141D2B"/>
                </a:solidFill>
                <a:latin typeface="Aptos"/>
              </a:defRPr>
            </a:pPr>
            <a:r>
              <a:t>ACTION  Track volume and economics by country 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34924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965960"/>
          </a:xfrm>
          <a:prstGeom prst="rect">
            <a:avLst/>
          </a:prstGeom>
          <a:solidFill>
            <a:srgbClr val="35A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536192"/>
            <a:ext cx="5029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2 — Measure channel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856232"/>
            <a:ext cx="5029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2359152"/>
            <a:ext cx="5029200" cy="9784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Raw revenue differences are composition-sensitive.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3063240"/>
            <a:ext cx="4892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141D2B"/>
                </a:solidFill>
                <a:latin typeface="Aptos"/>
              </a:defRPr>
            </a:pPr>
            <a:r>
              <a:t>ACTION  Add CPI/CPA → Retention → LTV → ROAS.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417320"/>
            <a:ext cx="534924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1417320"/>
            <a:ext cx="64008" cy="196596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1536192"/>
            <a:ext cx="5029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3 — Use churn selectively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1856232"/>
            <a:ext cx="5029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2359152"/>
            <a:ext cx="5029200" cy="9784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Predicted churn does not prove an offer will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063240"/>
            <a:ext cx="4892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141D2B"/>
                </a:solidFill>
                <a:latin typeface="Aptos"/>
              </a:defRPr>
            </a:pPr>
            <a:r>
              <a:t>ACTION  Predict → Target → Experiment → Measure.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17320"/>
            <a:ext cx="534924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64008" cy="1965960"/>
          </a:xfrm>
          <a:prstGeom prst="rect">
            <a:avLst/>
          </a:prstGeom>
          <a:solidFill>
            <a:srgbClr val="DD8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1" y="1536192"/>
            <a:ext cx="5029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9717D"/>
                </a:solidFill>
                <a:latin typeface="Aptos"/>
              </a:defRPr>
            </a:pPr>
            <a:r>
              <a:t>4 — Improve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1856232"/>
            <a:ext cx="5029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141D2B"/>
                </a:solidFill>
                <a:latin typeface="Aptos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2359152"/>
            <a:ext cx="5029200" cy="9784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69717D"/>
                </a:solidFill>
                <a:latin typeface="Aptos"/>
              </a:defRPr>
            </a:pPr>
            <a:r>
              <a:t>Purchase and rewarded-ad anomalies remain.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3063240"/>
            <a:ext cx="4892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141D2B"/>
                </a:solidFill>
                <a:latin typeface="Aptos"/>
              </a:defRPr>
            </a:pPr>
            <a:r>
              <a:t>ACTION  Validate duplicate IDs, pre-install purchases and Mar 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665" y="55321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>
                <a:solidFill>
                  <a:srgbClr val="141D2B"/>
                </a:solidFill>
                <a:latin typeface="Aptos"/>
              </a:defRPr>
            </a:pPr>
            <a:r>
              <a:rPr dirty="0"/>
              <a:t>Decision principle: optimize for incremental economics, not descriptive metrics alone.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2528" y="6519672"/>
            <a:ext cx="15760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7. What We Know — and What We Still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The final readout should be explicit about uncertainty.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920240" cy="310896"/>
          </a:xfrm>
          <a:prstGeom prst="round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52728"/>
            <a:ext cx="1773936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WE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2578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ARPDAU fell 16.5% overall.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Country-tier ARPDAU did not deteriorate.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Tier 4's active-player mix increased sharply.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Paid Video has the highest engagement among the three channels.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Adjusted Organic–Paid Video revenue difference is not statistically established.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Churn model reaches 0.7439 ROC-AUC on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34440"/>
            <a:ext cx="2103120" cy="310896"/>
          </a:xfrm>
          <a:prstGeom prst="roundRect">
            <a:avLst/>
          </a:prstGeom>
          <a:solidFill>
            <a:srgbClr val="DD8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3912" y="1252728"/>
            <a:ext cx="1956815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WE DON'T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64208"/>
            <a:ext cx="53492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Why the acquisition mix shifted toward Tier 4.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Channel profitability without CPI/CPA/marketing spend.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Incremental value of a retention offer.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Whether predicted churners are actually persuadable.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Whether the Mar 6 ad anomaly is telemetry failure or genuine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440680"/>
            <a:ext cx="1088136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50" b="1">
                <a:solidFill>
                  <a:srgbClr val="141D2B"/>
                </a:solidFill>
                <a:latin typeface="Aptos"/>
              </a:defRPr>
            </a:pPr>
            <a:r>
              <a:t>Next: add marketing economics, run a retention-offer experiment, validate uplift, and investigate telemetry anomalies.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2221" y="6519672"/>
            <a:ext cx="15263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rPr dirty="0"/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1498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0">
                <a:solidFill>
                  <a:srgbClr val="CDD7E4"/>
                </a:solidFill>
                <a:latin typeface="Aptos"/>
              </a:defRPr>
            </a:pPr>
            <a:r>
              <a:t>Detailed evidence, outputs, methodology, judgement calls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94760"/>
            <a:ext cx="10149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0">
                <a:solidFill>
                  <a:srgbClr val="BEC8D7"/>
                </a:solidFill>
                <a:latin typeface="Aptos"/>
              </a:defRPr>
            </a:pPr>
            <a:r>
              <a:t>Slides 9 onward are not part of the 8-slide Product Director readout.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6400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Grain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player_profile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80,295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one row per player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player_day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667,435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one row per player per active day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15,426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one row per real-money 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currency_spend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489,892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one row per in-game currency spend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ad_view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647,623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one row per rewarded-ad interaction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417320"/>
            <a:ext cx="3931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10512"/>
            <a:ext cx="3931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>
                <a:solidFill>
                  <a:srgbClr val="141D2B"/>
                </a:solidFill>
                <a:latin typeface="Aptos"/>
              </a:defRPr>
            </a:pPr>
            <a:r>
              <a:t>Jan 1 – Apr 30,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468880"/>
            <a:ext cx="3931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Important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834640"/>
            <a:ext cx="39776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03741"/>
                </a:solidFill>
                <a:latin typeface="Aptos"/>
              </a:defRPr>
            </a:pPr>
            <a:r>
              <a:t>• Install volume is not flat across the window.</a:t>
            </a:r>
          </a:p>
          <a:p>
            <a:pPr>
              <a:spcAft>
                <a:spcPts val="800"/>
              </a:spcAft>
              <a:defRPr sz="1100">
                <a:solidFill>
                  <a:srgbClr val="303741"/>
                </a:solidFill>
                <a:latin typeface="Aptos"/>
              </a:defRPr>
            </a:pPr>
            <a:r>
              <a:t>• Revenue in this assignment means in-app purchase revenue.</a:t>
            </a:r>
          </a:p>
          <a:p>
            <a:pPr>
              <a:spcAft>
                <a:spcPts val="800"/>
              </a:spcAft>
              <a:defRPr sz="1100">
                <a:solidFill>
                  <a:srgbClr val="303741"/>
                </a:solidFill>
                <a:latin typeface="Aptos"/>
              </a:defRPr>
            </a:pPr>
            <a:r>
              <a:t>• No marketing cost or ad revenue is present.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A2. Data Quality Checks &amp;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6583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541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Treatment / interpretation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Duplicate player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 issue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Duplicate player-day keys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 issue found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Duplicate purchase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Investigated; not blindly deduplicated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Purchases before install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Excluded from lifecycle timing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Ad events outside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7,732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Excluded from windowed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Zero-ad-event days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Mar 6; investigate telemetry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Negative purchase amounts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Flagged for data-quality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Ad count above cap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 cap violation found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Zero purchase amounts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 issue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550"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Invalid currency values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 issue found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325880"/>
            <a:ext cx="3840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Assignment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10512"/>
            <a:ext cx="4478855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Thoughtful handling of a smaller number of real issues is </a:t>
            </a:r>
            <a:endParaRPr lang="en-IN" dirty="0"/>
          </a:p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preferable to mechanically listing every anomaly.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628781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rPr dirty="0"/>
              <a:t>A3. Daily Health — </a:t>
            </a:r>
            <a:r>
              <a:rPr lang="en-IN" dirty="0"/>
              <a:t>Selected</a:t>
            </a:r>
            <a:r>
              <a:rPr dirty="0"/>
              <a:t> Output</a:t>
            </a:r>
            <a:r>
              <a:rPr lang="en-IN" dirty="0"/>
              <a:t> Rows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4CC511-9B30-53C7-367C-B065F624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9" y="1112363"/>
            <a:ext cx="11914626" cy="5385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A4. Retention Cohort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rPr dirty="0"/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842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50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Cohort week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Players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D7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D14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D30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2025-12-29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45.97%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24.25%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18.88%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12.77%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2026-01-05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2199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46.48%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26.78%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13.69%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26.21%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2026-01-19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2234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47.72%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24.53%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18.62%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12.67%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2026-01-26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21.43%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2335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48.05%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26.85%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20.77%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14.60%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50.44%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2269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47.25%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23.89%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19.48%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2026-02-23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46.90%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26.75%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18.99%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2026-03-02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3241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47.58%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24.22%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19.56%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13.33%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2026-03-09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26.62%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2026-03-16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4337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47.43%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25.27%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19.18%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13.72%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2026-03-23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48.80%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14.06%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2026-03-30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5365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46.15%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26.37%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19.24%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13.17%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2026-04-06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48.34%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6551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47.63%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24.29%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19.84%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48.08%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24.28%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9514"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3785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46.85%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Not eligible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Recent cohorts are marked not eligible where the observation window is too short.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A5. Revenue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pic>
        <p:nvPicPr>
          <p:cNvPr id="6" name="Picture 5" descr="revenu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760720" cy="33832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46304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Ranked payer segment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 share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Top 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9.4409%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Top 10%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48.0806%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Top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90.2277%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3429000"/>
            <a:ext cx="44805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41D2B"/>
                </a:solidFill>
                <a:latin typeface="Aptos"/>
              </a:defRPr>
            </a:pPr>
            <a:r>
              <a:t>Population ranked: paying players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4297680"/>
            <a:ext cx="438613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Interpretation: revenue is highly concentrated among the payer base; </a:t>
            </a:r>
            <a:endParaRPr lang="en-IN" dirty="0"/>
          </a:p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this makes payer behavior an important monetization lever.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74814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rPr dirty="0"/>
              <a:t>A6. Time to First Purchase</a:t>
            </a:r>
            <a:r>
              <a:rPr lang="en-IN" dirty="0"/>
              <a:t> – Selected Player Rows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508760"/>
            <a:ext cx="374903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Required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65960"/>
            <a:ext cx="36576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03741"/>
                </a:solidFill>
                <a:latin typeface="Aptos"/>
              </a:defRPr>
            </a:pPr>
            <a:r>
              <a:t>• Define the time origin as install.</a:t>
            </a:r>
          </a:p>
          <a:p>
            <a:pPr>
              <a:spcAft>
                <a:spcPts val="800"/>
              </a:spcAft>
              <a:defRPr sz="1150">
                <a:solidFill>
                  <a:srgbClr val="303741"/>
                </a:solidFill>
                <a:latin typeface="Aptos"/>
              </a:defRPr>
            </a:pPr>
            <a:r>
              <a:t>• Show distribution/buckets.</a:t>
            </a:r>
          </a:p>
          <a:p>
            <a:pPr>
              <a:spcAft>
                <a:spcPts val="800"/>
              </a:spcAft>
              <a:defRPr sz="1150">
                <a:solidFill>
                  <a:srgbClr val="303741"/>
                </a:solidFill>
                <a:latin typeface="Aptos"/>
              </a:defRPr>
            </a:pPr>
            <a:r>
              <a:t>• Report never-purchase share.</a:t>
            </a:r>
          </a:p>
          <a:p>
            <a:pPr>
              <a:spcAft>
                <a:spcPts val="800"/>
              </a:spcAft>
              <a:defRPr sz="1150">
                <a:solidFill>
                  <a:srgbClr val="303741"/>
                </a:solidFill>
                <a:latin typeface="Aptos"/>
              </a:defRPr>
            </a:pPr>
            <a:r>
              <a:t>• Mention any censoring/window limitation.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8E20A9-A0FE-7CDA-796C-263FFB18F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74" y="1212853"/>
            <a:ext cx="7413942" cy="39750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73800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rPr dirty="0"/>
              <a:t>A7. Repeat Purchase Gap</a:t>
            </a:r>
            <a:r>
              <a:rPr lang="en-IN" dirty="0"/>
              <a:t> – Selected Player Rows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508760"/>
            <a:ext cx="374903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386" y="1965960"/>
            <a:ext cx="3779048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Use a window function such as LAG(</a:t>
            </a:r>
            <a:r>
              <a:rPr dirty="0" err="1"/>
              <a:t>event_ts</a:t>
            </a:r>
            <a:r>
              <a:rPr dirty="0"/>
              <a:t>) to</a:t>
            </a:r>
            <a:endParaRPr lang="en-IN" dirty="0"/>
          </a:p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calculate consecutive purchase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337560"/>
            <a:ext cx="3657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794760"/>
            <a:ext cx="4118435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Use the distribution to understand purchase cadence and timing </a:t>
            </a:r>
            <a:endParaRPr lang="en-IN" dirty="0"/>
          </a:p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of repeat monetization opportunities.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7E32A0-6D82-13E9-7921-E3A5E371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0866"/>
            <a:ext cx="6755719" cy="3856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A8. Rewarded Ads — Cap Hits &amp; Daily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505025"/>
              </p:ext>
            </p:extLst>
          </p:nvPr>
        </p:nvGraphicFramePr>
        <p:xfrm>
          <a:off x="594360" y="1280160"/>
          <a:ext cx="43547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Ad-watching player-days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 hits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Hit rate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294,776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1.0265%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102,049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0.0127%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474720"/>
            <a:ext cx="5029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rPr dirty="0"/>
              <a:t>Product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4615366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Cap hits are rare. If a future dataset shows routine cap hits, this becomes</a:t>
            </a:r>
            <a:endParaRPr lang="en-IN" dirty="0"/>
          </a:p>
          <a:p>
            <a:pPr algn="l">
              <a:defRPr sz="1100" b="0">
                <a:solidFill>
                  <a:srgbClr val="303741"/>
                </a:solidFill>
                <a:latin typeface="Aptos"/>
              </a:defRPr>
            </a:pPr>
            <a:r>
              <a:rPr dirty="0"/>
              <a:t>a product-capacity question as well as a data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DD8935"/>
                </a:solidFill>
                <a:latin typeface="Aptos"/>
              </a:defRPr>
            </a:pPr>
            <a:r>
              <a:t>Known anomaly: Mar 6, 2026 has zero recorded ad events.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1A4DFB-96B0-7A26-E4B8-19C0E297B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801" y="1133101"/>
            <a:ext cx="6869401" cy="28622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A9. ARPDAU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53035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Overall ARPDAU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−$0.057886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Mix effect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−$0.075772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Within-tier 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+$0.017886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Share of total change from mix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130.90%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tier_arpd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30352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057400" y="3401568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2D67BE"/>
                </a:solidFill>
                <a:latin typeface="Aptos"/>
              </a:defRPr>
            </a:pPr>
            <a:r>
              <a:rPr dirty="0"/>
              <a:t>Sensitivity excluding purchases before install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072648"/>
              </p:ext>
            </p:extLst>
          </p:nvPr>
        </p:nvGraphicFramePr>
        <p:xfrm>
          <a:off x="1574276" y="4261387"/>
          <a:ext cx="85953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Recorded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Post-install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First 30d ARPDAU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$0.351136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$0.349754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Last 30d ARPDAU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$0.293250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rPr dirty="0"/>
                        <a:t>$0.290935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715000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141D2B"/>
                </a:solidFill>
                <a:latin typeface="Aptos"/>
              </a:defRPr>
            </a:pPr>
            <a:r>
              <a:t>Interpretation: the mix shift is the dominant aggregate explanation; within-tier performance improved.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A10. Acquisition — Raw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Paid Social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Paid Video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17,857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15,473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Avg 7d playtime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37.288 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34.946 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44.752 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Median 7d playtime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20.4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33.5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Avg sessions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6.676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6.411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8.269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Avg active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1.803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Avg 30d revenue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$1.6185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$1.4793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$1.2995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Median 30d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Payer conversion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8.74%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8.68%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7.49%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141D2B"/>
                </a:solidFill>
                <a:latin typeface="Aptos"/>
              </a:defRPr>
            </a:pPr>
            <a:r>
              <a:t>Country-tier mix and install-month mix differ across channels; raw comparisons therefore require adjustment.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303741"/>
                </a:solidFill>
                <a:latin typeface="Aptos"/>
              </a:defRPr>
            </a:pPr>
            <a:r>
              <a:t>Observed channel engagement: Paid Video has the highest average playtime, sessions and active days.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A11. Acquisition — Statistical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5394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Organic − Paid Video playtime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+4.6316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+3.5021 to +5.8096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Organic − Paid Video raw revenue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+$0.9125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+$0.6643 to +$1.1795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0.0003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Adjusted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+ $0.0917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−$0.2337 to +$0.4098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0.5751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25880"/>
            <a:ext cx="48463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Adjustment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41D2B"/>
                </a:solidFill>
                <a:latin typeface="Aptos"/>
              </a:defRPr>
            </a:pPr>
            <a:r>
              <a:t>Country tier + install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4846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796843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The raw revenue gap is statistically significant, but the adjusted difference </a:t>
            </a:r>
            <a:endParaRPr lang="en-IN" dirty="0"/>
          </a:p>
          <a:p>
            <a:pPr algn="l">
              <a:defRPr sz="1300" b="1">
                <a:solidFill>
                  <a:srgbClr val="141D2B"/>
                </a:solidFill>
                <a:latin typeface="Aptos"/>
              </a:defRPr>
            </a:pPr>
            <a:r>
              <a:rPr dirty="0"/>
              <a:t>is not statistically established (p = 0.5751).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698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DD8935"/>
                </a:solidFill>
                <a:latin typeface="Aptos"/>
              </a:defRPr>
            </a:pPr>
            <a:r>
              <a:t>Business significance also requires CPI/CPA, LTV and ROAS — none are in the extract.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A12. Churn — Setup &amp; Feature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Definition / value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Prediction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Currently active player at 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Active at 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Activity on ≥1 day in T−6…T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Churn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No activity T+1…T+14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Prediction dates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Feb 1 – Apr 16, 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Observations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1,787,831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19.63%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25880"/>
            <a:ext cx="49377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Profile &amp; acquisition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7/14/30-day activity and engagement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Progression and level movement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Purchases and time since purchase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Currency spend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Rewarded-ad starts/completions and completion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9377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141D2B"/>
                </a:solidFill>
                <a:latin typeface="Aptos"/>
              </a:defRPr>
            </a:pPr>
            <a:r>
              <a:t>38 original features → 63 processed features after encoding.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A13. Churn — Time-Based Train / Validation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Dates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Observations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Feb 1 – Mar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799,292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20.10%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Mar 16 – Mar 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434,848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19.69%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Apr 1 – Apr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553,691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023360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2D67BE"/>
                </a:solidFill>
                <a:latin typeface="Aptos"/>
              </a:defRPr>
            </a:pPr>
            <a:r>
              <a:t>Why time-based?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24128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141D2B"/>
                </a:solidFill>
                <a:latin typeface="Aptos"/>
              </a:defRPr>
            </a:pPr>
            <a:r>
              <a:t>The model is intended for future churn prediction. A chronological split better reflects deployment than a random split and reduces leakage from future behavior.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A14. Churn —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577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Accuracy @ 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0.7693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0.7713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Precision @ 0.30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0.4175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0.4070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Recall @ 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0.4345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0.4576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F1 @ 0.30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0.4258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0.4309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0.7430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0.7439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0.3999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0.3925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 descr="model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93776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114800"/>
            <a:ext cx="106070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141D2B"/>
                </a:solidFill>
                <a:latin typeface="Aptos"/>
              </a:defRPr>
            </a:pPr>
            <a:r>
              <a:t>Where it works badly: precision for churn is ~41%, meaning many targeted observations would not actually churn.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106070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DD8935"/>
                </a:solidFill>
                <a:latin typeface="Aptos"/>
              </a:defRPr>
            </a:pPr>
            <a:r>
              <a:t>This is why threshold selection and offer economics matter more than accuracy alone.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A15. Churn — Threshold &amp;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52120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Threshold 0.30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45.76%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Predicted churn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117,730 (21.26%)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Actual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104,714 (18.91%)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25880"/>
            <a:ext cx="48463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Test confusion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8308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Pred. non-churn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Pred. churn</a:t>
                      </a:r>
                    </a:p>
                  </a:txBody>
                  <a:tcPr>
                    <a:solidFill>
                      <a:srgbClr val="14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Actual non-churn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379,168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69,809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Actual churn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56,793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03741"/>
                          </a:solidFill>
                          <a:latin typeface="Aptos"/>
                        </a:defRPr>
                      </a:pPr>
                      <a:r>
                        <a:t>47,921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343400"/>
            <a:ext cx="1060704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D67BE"/>
                </a:solidFill>
                <a:latin typeface="Aptos"/>
              </a:defRPr>
            </a:pPr>
            <a:r>
              <a:t>Threshold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1060704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141D2B"/>
                </a:solidFill>
                <a:latin typeface="Aptos"/>
              </a:defRPr>
            </a:pPr>
            <a:r>
              <a:t>Choose the threshold where the expected incremental value of retained players exceeds the cost of offers and wasted targeting.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D2B"/>
                </a:solidFill>
                <a:latin typeface="Aptos Display"/>
              </a:defRPr>
            </a:pPr>
            <a:r>
              <a:t>A16. Limitations, Dead Ends &amp; What I Would Do With Another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17D"/>
                </a:solidFill>
                <a:latin typeface="Aptos"/>
              </a:defRPr>
            </a:pPr>
            <a:r>
              <a:t>Detailed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17D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212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2120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No marketing spend, CPI or CPA.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No ad revenue in player telemetry.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No support tickets or survey responses.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No causal acquisition experiment.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No retention-offer experiment.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Optional Task 4b (90-day install revenue) not pursued.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5212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D67BE"/>
                </a:solidFill>
                <a:latin typeface="Aptos"/>
              </a:defRPr>
            </a:pPr>
            <a:r>
              <a:t>Next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52120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Add marketing economics and LTV/ROAS.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Run retention-offer A/B testing.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Measure incremental retention by churn-risk segment.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Consider uplift modeling for treatment targeting.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Investigate rewarded-ad and purchase telemetry anomalies.</a:t>
            </a:r>
          </a:p>
          <a:p>
            <a:pPr>
              <a:spcAft>
                <a:spcPts val="800"/>
              </a:spcAft>
              <a:defRPr sz="1120">
                <a:solidFill>
                  <a:srgbClr val="303741"/>
                </a:solidFill>
                <a:latin typeface="Aptos"/>
              </a:defRPr>
            </a:pPr>
            <a:r>
              <a:t>• Stress-test acquisition conclusions across additional cohorts.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141D2B"/>
                </a:solidFill>
                <a:latin typeface="Aptos"/>
              </a:defRPr>
            </a:pPr>
            <a:r>
              <a:t>Depth was prioritized over optional breadth, consistent with the assignment's guidance.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A17. Technical Stack &amp; 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Tools and technologies actually used across the assignment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 Display"/>
              </a:defRPr>
            </a:pPr>
            <a:r>
              <a:t>Programming &amp; Querying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Python — analysis, feature engineering and ML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SQL — analytical queries and data preparation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DuckDB — local analytical database / SQL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73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58191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 Display"/>
              </a:defRPr>
            </a:pPr>
            <a:r>
              <a:t>Python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Pandas — tabular data manipulation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NumPy — numerical operations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Matplotlib — charts and visualizations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scikit-learn — preprocessing, logistic regression and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 Display"/>
              </a:defRPr>
            </a:pPr>
            <a:r>
              <a:t>Analysis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Source CSVs → DuckDB / SQL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Tasks 1–3 → descriptive + statistical analysis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Task 4 → feature engineering → time split → ML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Outputs → business interpretation and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79476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95935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 Display"/>
              </a:defRPr>
            </a:pPr>
            <a:r>
              <a:t>Development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8912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Jupyter Notebook — exploratory analysis and outputs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VS Code — code editor / development environment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Python scripts — repeatable Task 4 pipeline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CSV / TXT / PPTX outputs — evidence and final readout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25895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rPr dirty="0"/>
              <a:t> |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2576</Words>
  <Application>Microsoft Office PowerPoint</Application>
  <PresentationFormat>Widescreen</PresentationFormat>
  <Paragraphs>647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VIKRANT KUMAR</dc:creator>
  <cp:keywords/>
  <dc:description>generated using python-pptx</dc:description>
  <cp:lastModifiedBy>VIKRANT KUMAR</cp:lastModifiedBy>
  <cp:revision>3</cp:revision>
  <dcterms:created xsi:type="dcterms:W3CDTF">2013-01-27T09:14:16Z</dcterms:created>
  <dcterms:modified xsi:type="dcterms:W3CDTF">2026-09-27T13:36:52Z</dcterms:modified>
  <cp:category/>
</cp:coreProperties>
</file>